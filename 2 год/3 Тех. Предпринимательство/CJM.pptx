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bUsbpfQ4FapCH2MVGOv1j1TLt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8292B4-72F3-43D1-940F-A844C9C45D98}">
  <a:tblStyle styleId="{2F8292B4-72F3-43D1-940F-A844C9C45D9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396233" y="3429300"/>
            <a:ext cx="5844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23" name="Google Shape;23;p40"/>
          <p:cNvSpPr txBox="1"/>
          <p:nvPr>
            <p:ph idx="2" type="title"/>
          </p:nvPr>
        </p:nvSpPr>
        <p:spPr>
          <a:xfrm>
            <a:off x="5396233" y="1762633"/>
            <a:ext cx="1776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8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0"/>
          <p:cNvSpPr/>
          <p:nvPr>
            <p:ph idx="3" type="pic"/>
          </p:nvPr>
        </p:nvSpPr>
        <p:spPr>
          <a:xfrm>
            <a:off x="950967" y="719333"/>
            <a:ext cx="3680800" cy="541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>
  <p:cSld name="Заголовок раздела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4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document/d/1P_gilwTs4avhgmAFaWTiTvI6eoz8KxygkwDUfOPrxEc/edit?usp=sharing" TargetMode="External"/><Relationship Id="rId4" Type="http://schemas.openxmlformats.org/officeDocument/2006/relationships/hyperlink" Target="https://docs.google.com/document/d/1Lf3cD3Rro5yT_lVHFnc4OP73qjM7JhmXg0l7SOEMnts/edit?usp=sharing" TargetMode="External"/><Relationship Id="rId5" Type="http://schemas.openxmlformats.org/officeDocument/2006/relationships/hyperlink" Target="https://docs.google.com/document/d/1zKu03lQ3dTteXomEka_GE8a5w9w2yQ9coI0rCj6I-jg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658091" y="1018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ru-RU"/>
              <a:t>Клиенты</a:t>
            </a:r>
            <a:endParaRPr/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1247703" y="1708367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{2F8292B4-72F3-43D1-940F-A844C9C45D98}</a:tableStyleId>
              </a:tblPr>
              <a:tblGrid>
                <a:gridCol w="1454725"/>
                <a:gridCol w="82418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00000"/>
                          </a:solidFill>
                        </a:rPr>
                        <a:t>Респондент (пол, возраст, род занятий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00000"/>
                          </a:solidFill>
                        </a:rPr>
                        <a:t>Документ/ссылка на документ с разбором интервью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00000"/>
                          </a:solidFill>
                        </a:rPr>
                        <a:t>57 лет, фермер, мужской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sng" cap="none" strike="noStrike">
                          <a:solidFill>
                            <a:srgbClr val="000000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https://docs.google.com/document/d/1P_gilwTs4avhgmAFaWTiTvI6eoz8KxygkwDUfOPrxEc/edit?usp=sharing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00000"/>
                          </a:solidFill>
                        </a:rPr>
                        <a:t>67 лет, пенсионерка, женский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sng" cap="none" strike="noStrike">
                          <a:solidFill>
                            <a:srgbClr val="000000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https://docs.google.com/document/d/1Lf3cD3Rro5yT_lVHFnc4OP73qjM7JhmXg0l7SOEMnts/edit?usp=sharing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00000"/>
                          </a:solidFill>
                        </a:rPr>
                        <a:t>71, пенсионерка, женский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sng" cap="none" strike="noStrike">
                          <a:solidFill>
                            <a:srgbClr val="000000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https://docs.google.com/document/d/1zKu03lQ3dTteXomEka_GE8a5w9w2yQ9coI0rCj6I-jg/edit?usp=sharing</a:t>
                      </a:r>
                      <a:endParaRPr b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18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>
            <a:off x="144729" y="1349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Гипотезы</a:t>
            </a:r>
            <a:endParaRPr/>
          </a:p>
        </p:txBody>
      </p:sp>
      <p:grpSp>
        <p:nvGrpSpPr>
          <p:cNvPr id="94" name="Google Shape;94;p21"/>
          <p:cNvGrpSpPr/>
          <p:nvPr/>
        </p:nvGrpSpPr>
        <p:grpSpPr>
          <a:xfrm>
            <a:off x="-1" y="969632"/>
            <a:ext cx="12192000" cy="5874876"/>
            <a:chOff x="481012" y="1690688"/>
            <a:chExt cx="11149014" cy="4491038"/>
          </a:xfrm>
        </p:grpSpPr>
        <p:grpSp>
          <p:nvGrpSpPr>
            <p:cNvPr id="95" name="Google Shape;95;p21"/>
            <p:cNvGrpSpPr/>
            <p:nvPr/>
          </p:nvGrpSpPr>
          <p:grpSpPr>
            <a:xfrm>
              <a:off x="481012" y="1690688"/>
              <a:ext cx="11149014" cy="4491038"/>
              <a:chOff x="481012" y="1690688"/>
              <a:chExt cx="11149014" cy="4491038"/>
            </a:xfrm>
          </p:grpSpPr>
          <p:sp>
            <p:nvSpPr>
              <p:cNvPr id="96" name="Google Shape;96;p21"/>
              <p:cNvSpPr/>
              <p:nvPr/>
            </p:nvSpPr>
            <p:spPr>
              <a:xfrm>
                <a:off x="481012" y="1690690"/>
                <a:ext cx="3597239" cy="2119063"/>
              </a:xfrm>
              <a:prstGeom prst="rect">
                <a:avLst/>
              </a:prstGeom>
              <a:solidFill>
                <a:srgbClr val="D8D8D8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1"/>
              <p:cNvSpPr/>
              <p:nvPr/>
            </p:nvSpPr>
            <p:spPr>
              <a:xfrm>
                <a:off x="481012" y="3937845"/>
                <a:ext cx="3597240" cy="2243881"/>
              </a:xfrm>
              <a:prstGeom prst="rect">
                <a:avLst/>
              </a:prstGeom>
              <a:solidFill>
                <a:srgbClr val="D8D8D8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1"/>
              <p:cNvSpPr/>
              <p:nvPr/>
            </p:nvSpPr>
            <p:spPr>
              <a:xfrm>
                <a:off x="4297119" y="1690689"/>
                <a:ext cx="3735672" cy="2119063"/>
              </a:xfrm>
              <a:prstGeom prst="rect">
                <a:avLst/>
              </a:prstGeom>
              <a:solidFill>
                <a:srgbClr val="D8D8D8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21"/>
              <p:cNvSpPr/>
              <p:nvPr/>
            </p:nvSpPr>
            <p:spPr>
              <a:xfrm>
                <a:off x="4297118" y="3937844"/>
                <a:ext cx="3735671" cy="2243881"/>
              </a:xfrm>
              <a:prstGeom prst="rect">
                <a:avLst/>
              </a:prstGeom>
              <a:solidFill>
                <a:srgbClr val="D8D8D8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1"/>
              <p:cNvSpPr/>
              <p:nvPr/>
            </p:nvSpPr>
            <p:spPr>
              <a:xfrm>
                <a:off x="8283860" y="1690688"/>
                <a:ext cx="3346166" cy="4491037"/>
              </a:xfrm>
              <a:prstGeom prst="rect">
                <a:avLst/>
              </a:prstGeom>
              <a:solidFill>
                <a:srgbClr val="D8D8D8"/>
              </a:solidFill>
              <a:ln cap="flat" cmpd="sng" w="1905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" name="Google Shape;101;p21"/>
            <p:cNvSpPr txBox="1"/>
            <p:nvPr/>
          </p:nvSpPr>
          <p:spPr>
            <a:xfrm>
              <a:off x="561975" y="1802674"/>
              <a:ext cx="27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 самих консервах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1"/>
            <p:cNvSpPr txBox="1"/>
            <p:nvPr/>
          </p:nvSpPr>
          <p:spPr>
            <a:xfrm>
              <a:off x="561712" y="2085077"/>
              <a:ext cx="3359400" cy="171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Клиенты ожидают «настоящую рыбу», а не дешёвые обрезки: целые или крупные куски, узнаваемый вкус конкретного вида. Консервы для них — удобный формат качественной рыбы, а не способ сэкономить. Слишком низкая цена вызывает подозрение, вкус оценивается по «домашнему стандарту», любое разочарование </a:t>
              </a:r>
              <a:r>
                <a:rPr lang="ru-RU"/>
                <a:t>сильно</a:t>
              </a: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бьёт по доверию к бренду.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1"/>
            <p:cNvSpPr txBox="1"/>
            <p:nvPr/>
          </p:nvSpPr>
          <p:spPr>
            <a:xfrm>
              <a:off x="561975" y="4023191"/>
              <a:ext cx="27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 производителе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1"/>
            <p:cNvSpPr txBox="1"/>
            <p:nvPr/>
          </p:nvSpPr>
          <p:spPr>
            <a:xfrm>
              <a:off x="561975" y="4424410"/>
              <a:ext cx="3218847" cy="1388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Производитель и регион — главный источник доверия: ценятся «правильные» зоны (Дальний Восток, Тихий океан, надёжные ярмарки). Доверие строится на личном опыте: удачная покупка закрепляет марку на годы, неудачная сразу отправляет её в «чёрный список» без второго шанса.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1"/>
            <p:cNvSpPr txBox="1"/>
            <p:nvPr/>
          </p:nvSpPr>
          <p:spPr>
            <a:xfrm>
              <a:off x="4548212" y="1756050"/>
              <a:ext cx="2093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О банке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1"/>
            <p:cNvSpPr txBox="1"/>
            <p:nvPr/>
          </p:nvSpPr>
          <p:spPr>
            <a:xfrm>
              <a:off x="4548189" y="2085077"/>
              <a:ext cx="3213819" cy="1552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Банка — важный сигнал качества и безопасности. Важны целостность (без вмятин и пробоин), аккуратный и «аппетитный» внешний вид, читаемая маркировка, выдавленные цифры и срок годности. Ценится ощущение «полной» банки и удобное открытие с кольцом, что особенно важно для старшего возраста.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1"/>
            <p:cNvSpPr txBox="1"/>
            <p:nvPr/>
          </p:nvSpPr>
          <p:spPr>
            <a:xfrm>
              <a:off x="4548189" y="4023191"/>
              <a:ext cx="2376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Потребление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1"/>
            <p:cNvSpPr txBox="1"/>
            <p:nvPr/>
          </p:nvSpPr>
          <p:spPr>
            <a:xfrm>
              <a:off x="4548189" y="4424410"/>
              <a:ext cx="2925276" cy="1388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Все сценарии потребления простые и домашние: быстрый суп, универсальный ингредиент для пирогов и салатов или готовое блюдо «рыба с картошкой». Консервы помогают быстро получить сытную и привычную еду без сложной готовки.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1"/>
            <p:cNvSpPr txBox="1"/>
            <p:nvPr/>
          </p:nvSpPr>
          <p:spPr>
            <a:xfrm>
              <a:off x="8558234" y="1808000"/>
              <a:ext cx="179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Прочее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1"/>
            <p:cNvSpPr txBox="1"/>
            <p:nvPr/>
          </p:nvSpPr>
          <p:spPr>
            <a:xfrm>
              <a:off x="8558214" y="2209355"/>
              <a:ext cx="2524126" cy="16003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Клиенты склонны больше доверять виду банки, региону и ГОСТ, чем тексту состава. Магазины выбирают по близости и привычке: дискаунтеры, рынки, ярмарки. Они консервативны в выборе и готовы платить больше и дольше выбирать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1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Портрет клиента 1</a:t>
            </a:r>
            <a:endParaRPr/>
          </a:p>
        </p:txBody>
      </p:sp>
      <p:grpSp>
        <p:nvGrpSpPr>
          <p:cNvPr id="117" name="Google Shape;117;p19"/>
          <p:cNvGrpSpPr/>
          <p:nvPr/>
        </p:nvGrpSpPr>
        <p:grpSpPr>
          <a:xfrm>
            <a:off x="398600" y="1423767"/>
            <a:ext cx="11645537" cy="4671430"/>
            <a:chOff x="838198" y="1769811"/>
            <a:chExt cx="10339807" cy="3931072"/>
          </a:xfrm>
        </p:grpSpPr>
        <p:sp>
          <p:nvSpPr>
            <p:cNvPr id="118" name="Google Shape;118;p19"/>
            <p:cNvSpPr/>
            <p:nvPr/>
          </p:nvSpPr>
          <p:spPr>
            <a:xfrm>
              <a:off x="846239" y="1769811"/>
              <a:ext cx="4370544" cy="884816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5810250" y="1769811"/>
              <a:ext cx="5348288" cy="2437547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838198" y="2784285"/>
              <a:ext cx="4405313" cy="1148764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838198" y="4060658"/>
              <a:ext cx="4405313" cy="1640225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9"/>
            <p:cNvSpPr txBox="1"/>
            <p:nvPr/>
          </p:nvSpPr>
          <p:spPr>
            <a:xfrm>
              <a:off x="5854279" y="1838190"/>
              <a:ext cx="37233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Краткое описание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9"/>
            <p:cNvSpPr txBox="1"/>
            <p:nvPr/>
          </p:nvSpPr>
          <p:spPr>
            <a:xfrm>
              <a:off x="852433" y="1820347"/>
              <a:ext cx="22772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Демография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838198" y="2806428"/>
              <a:ext cx="40683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Зачем нужны консервы?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9"/>
            <p:cNvSpPr txBox="1"/>
            <p:nvPr/>
          </p:nvSpPr>
          <p:spPr>
            <a:xfrm>
              <a:off x="846239" y="4162610"/>
              <a:ext cx="37460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 что обращают внимание?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9"/>
            <p:cNvSpPr txBox="1"/>
            <p:nvPr/>
          </p:nvSpPr>
          <p:spPr>
            <a:xfrm>
              <a:off x="846239" y="4531942"/>
              <a:ext cx="4060318" cy="906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Производитель/регион, внешний вид банки, дата. Берёт сардину в масле, томатный соус избегает из-за здоровья, составу не доверяет, способ открытия не важен.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829717" y="4491984"/>
              <a:ext cx="5348288" cy="1207854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9"/>
            <p:cNvSpPr txBox="1"/>
            <p:nvPr/>
          </p:nvSpPr>
          <p:spPr>
            <a:xfrm>
              <a:off x="5837495" y="4531942"/>
              <a:ext cx="35092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Проблемы при покупке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9"/>
            <p:cNvSpPr txBox="1"/>
            <p:nvPr/>
          </p:nvSpPr>
          <p:spPr>
            <a:xfrm>
              <a:off x="5896790" y="4836939"/>
              <a:ext cx="4668281" cy="621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Ограничения по здоровью, недоверие к информации на упаковке — ощущение, что его могут обмануть, ограниченный выбор «правильных» консервов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9"/>
            <p:cNvSpPr txBox="1"/>
            <p:nvPr/>
          </p:nvSpPr>
          <p:spPr>
            <a:xfrm>
              <a:off x="5975977" y="2230194"/>
              <a:ext cx="4045601" cy="1528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Рыбные консервы в его рационе встречаются редко: здоровье не позволяет есть их часто, а к качеству и происхождению рыбы он относится очень придирчиво. Покупает только тогда, когда «очень захочется», чаще для простых домашних блюд вроде рыбного супа.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922965" y="2162562"/>
              <a:ext cx="2837636" cy="49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Фермер 57 лет, женат, двое взрослых детей.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9"/>
            <p:cNvSpPr txBox="1"/>
            <p:nvPr/>
          </p:nvSpPr>
          <p:spPr>
            <a:xfrm>
              <a:off x="838198" y="3124010"/>
              <a:ext cx="4068358" cy="69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Покупает только тогда, когда «очень захочется», чаще для простых домашних блюд вроде рыбного супа.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9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84069" y="-1258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CJM</a:t>
            </a:r>
            <a:endParaRPr/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0" y="799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{2F8292B4-72F3-43D1-940F-A844C9C45D98}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88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Принятие решения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Выбор магазина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Поиск нужных консервов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Покупка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Лояльность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Какую проблему решает?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Хочется рыбы, но нет времени, желания готовить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Купить дешёвые и качественные консервы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От нормального производителя, подходящий тип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Выбрать качественную банку по разумной цене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Запомнить, нормальных производителей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Мотив к действию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Очень захотелось рыбного блюда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Привычный дискаунтер, где  покупает другие продукты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Взять подходящий по здоровью, недорогой вариант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Не отравиться и не переплатить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 следующий раз меньше сомнений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Что может быть барьером?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Ограничения по здоровью, сомнение в качестве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Нет желание, не тот регион, некачественные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Недоверие к производителям, надписям на упаковке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Пробитые банки, непонятный производитель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Ассортимент меняется, высокая цена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ЭМОЦИИ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Сомнение, желание удовольствия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Прагматичный настрой, без особых ожиданий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Скепсис, недоверие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Напряжение при выборе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удовлетворение/раздражение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20"/>
          <p:cNvSpPr txBox="1"/>
          <p:nvPr/>
        </p:nvSpPr>
        <p:spPr>
          <a:xfrm>
            <a:off x="312683" y="-82030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Портрет клиента 2</a:t>
            </a:r>
            <a:endParaRPr/>
          </a:p>
        </p:txBody>
      </p:sp>
      <p:grpSp>
        <p:nvGrpSpPr>
          <p:cNvPr id="146" name="Google Shape;146;p23"/>
          <p:cNvGrpSpPr/>
          <p:nvPr/>
        </p:nvGrpSpPr>
        <p:grpSpPr>
          <a:xfrm>
            <a:off x="398600" y="1423767"/>
            <a:ext cx="11645537" cy="4671430"/>
            <a:chOff x="838198" y="1769811"/>
            <a:chExt cx="10339807" cy="3931072"/>
          </a:xfrm>
        </p:grpSpPr>
        <p:sp>
          <p:nvSpPr>
            <p:cNvPr id="147" name="Google Shape;147;p23"/>
            <p:cNvSpPr/>
            <p:nvPr/>
          </p:nvSpPr>
          <p:spPr>
            <a:xfrm>
              <a:off x="846239" y="1769811"/>
              <a:ext cx="4370544" cy="884816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5810250" y="1769811"/>
              <a:ext cx="5348288" cy="2437547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838198" y="2784285"/>
              <a:ext cx="4405313" cy="1148764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838198" y="4060658"/>
              <a:ext cx="4405313" cy="1640225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3"/>
            <p:cNvSpPr txBox="1"/>
            <p:nvPr/>
          </p:nvSpPr>
          <p:spPr>
            <a:xfrm>
              <a:off x="5854279" y="1838190"/>
              <a:ext cx="37233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Краткое описание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3"/>
            <p:cNvSpPr txBox="1"/>
            <p:nvPr/>
          </p:nvSpPr>
          <p:spPr>
            <a:xfrm>
              <a:off x="852433" y="1820347"/>
              <a:ext cx="22772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Демография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3"/>
            <p:cNvSpPr txBox="1"/>
            <p:nvPr/>
          </p:nvSpPr>
          <p:spPr>
            <a:xfrm>
              <a:off x="838198" y="2806428"/>
              <a:ext cx="40683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Зачем нужны консервы?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3"/>
            <p:cNvSpPr txBox="1"/>
            <p:nvPr/>
          </p:nvSpPr>
          <p:spPr>
            <a:xfrm>
              <a:off x="846239" y="4162610"/>
              <a:ext cx="37460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 что обращают внимание?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 txBox="1"/>
            <p:nvPr/>
          </p:nvSpPr>
          <p:spPr>
            <a:xfrm>
              <a:off x="846239" y="4531942"/>
              <a:ext cx="4060318" cy="906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Цена не слишком низкая, отсутствие пустот при встряхивании, легкое открытие (кольцо), красивая упаковка, лучше вытянутая плоская банка.</a:t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5829717" y="4491984"/>
              <a:ext cx="5348288" cy="1207854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3"/>
            <p:cNvSpPr txBox="1"/>
            <p:nvPr/>
          </p:nvSpPr>
          <p:spPr>
            <a:xfrm>
              <a:off x="5837495" y="4531942"/>
              <a:ext cx="35092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Проблемы при покупке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3"/>
            <p:cNvSpPr txBox="1"/>
            <p:nvPr/>
          </p:nvSpPr>
          <p:spPr>
            <a:xfrm>
              <a:off x="5896790" y="4836939"/>
              <a:ext cx="4668281" cy="440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Не читает состав может не замечать скрытые отличия между брендами, опираясь только на внешний вид и цену.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3"/>
            <p:cNvSpPr txBox="1"/>
            <p:nvPr/>
          </p:nvSpPr>
          <p:spPr>
            <a:xfrm>
              <a:off x="5975977" y="2230194"/>
              <a:ext cx="4045601" cy="1528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Рыбные консервы для неё — регулярный продукт: покупает примерно раз в две недели. Любит вкус рыбы и использует консервы по-разному, есть предпочтения по виду: сайра, килька, шпроты, скумбрия. Любимая марка — Доброфлот, в основном покупает именно её.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3"/>
            <p:cNvSpPr txBox="1"/>
            <p:nvPr/>
          </p:nvSpPr>
          <p:spPr>
            <a:xfrm>
              <a:off x="922965" y="2162562"/>
              <a:ext cx="3130305" cy="28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Пенсионерка 67 лет, живёт одна.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3"/>
            <p:cNvSpPr txBox="1"/>
            <p:nvPr/>
          </p:nvSpPr>
          <p:spPr>
            <a:xfrm>
              <a:off x="838198" y="3124010"/>
              <a:ext cx="4068358" cy="69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Использует консервы по-разному: добавляет в пироги, салаты и уху или просто как самостоятельное блюдо.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" name="Google Shape;162;p23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84069" y="-1258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CJM</a:t>
            </a:r>
            <a:endParaRPr/>
          </a:p>
        </p:txBody>
      </p:sp>
      <p:graphicFrame>
        <p:nvGraphicFramePr>
          <p:cNvPr id="168" name="Google Shape;168;p24"/>
          <p:cNvGraphicFramePr/>
          <p:nvPr/>
        </p:nvGraphicFramePr>
        <p:xfrm>
          <a:off x="0" y="799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{2F8292B4-72F3-43D1-940F-A844C9C45D98}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88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Принятие решения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Выбор магазина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Поиск нужных консервов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Покупка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Лояльность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Какую проблему решает?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ru-RU" sz="1800" u="none" cap="none" strike="noStrike"/>
                        <a:t>Нужно что-то вкусное и сытное без сложной готовки</a:t>
                      </a:r>
                      <a:endParaRPr b="0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Магазин рядом, без лишних поездок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Найти знакомый бренд, вид рыбы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Взять Качественные консервы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Запомнить, какие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бренды можно брать повторно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Мотив к действию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Быстро, вкусно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Близко, привычный ассортимент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Получить хорошие консервы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Цена 150–160+, кольцо-открывашка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 прошлый раз понравилось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Что может быть барьером?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Опасение наткнуться на плохую партию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Не завезли нужные консервы или марку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Нет знакомого бренда в наличии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Банки не соответствует внутренним критериям качества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Один плохой опыт – больше не купит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ЭМОЦИИ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Предвкушение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Спокойствие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Придирчивость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Удовлетворение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Удовлетворение/разочарование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4"/>
          <p:cNvSpPr txBox="1"/>
          <p:nvPr/>
        </p:nvSpPr>
        <p:spPr>
          <a:xfrm>
            <a:off x="312683" y="-82030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Портрет клиента 3</a:t>
            </a:r>
            <a:endParaRPr/>
          </a:p>
        </p:txBody>
      </p:sp>
      <p:grpSp>
        <p:nvGrpSpPr>
          <p:cNvPr id="175" name="Google Shape;175;p50"/>
          <p:cNvGrpSpPr/>
          <p:nvPr/>
        </p:nvGrpSpPr>
        <p:grpSpPr>
          <a:xfrm>
            <a:off x="398600" y="1423767"/>
            <a:ext cx="11645537" cy="4671430"/>
            <a:chOff x="838198" y="1769811"/>
            <a:chExt cx="10339807" cy="3931072"/>
          </a:xfrm>
        </p:grpSpPr>
        <p:sp>
          <p:nvSpPr>
            <p:cNvPr id="176" name="Google Shape;176;p50"/>
            <p:cNvSpPr/>
            <p:nvPr/>
          </p:nvSpPr>
          <p:spPr>
            <a:xfrm>
              <a:off x="846239" y="1769811"/>
              <a:ext cx="4370544" cy="884816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0"/>
            <p:cNvSpPr/>
            <p:nvPr/>
          </p:nvSpPr>
          <p:spPr>
            <a:xfrm>
              <a:off x="5810250" y="1769811"/>
              <a:ext cx="5348288" cy="2437547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50"/>
            <p:cNvSpPr/>
            <p:nvPr/>
          </p:nvSpPr>
          <p:spPr>
            <a:xfrm>
              <a:off x="838198" y="2784285"/>
              <a:ext cx="4405313" cy="1148764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0"/>
            <p:cNvSpPr/>
            <p:nvPr/>
          </p:nvSpPr>
          <p:spPr>
            <a:xfrm>
              <a:off x="838198" y="4060658"/>
              <a:ext cx="4405313" cy="1640225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0"/>
            <p:cNvSpPr txBox="1"/>
            <p:nvPr/>
          </p:nvSpPr>
          <p:spPr>
            <a:xfrm>
              <a:off x="5854279" y="1838190"/>
              <a:ext cx="37233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Краткое описание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0"/>
            <p:cNvSpPr txBox="1"/>
            <p:nvPr/>
          </p:nvSpPr>
          <p:spPr>
            <a:xfrm>
              <a:off x="852433" y="1820347"/>
              <a:ext cx="22772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Демография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0"/>
            <p:cNvSpPr txBox="1"/>
            <p:nvPr/>
          </p:nvSpPr>
          <p:spPr>
            <a:xfrm>
              <a:off x="838198" y="2806428"/>
              <a:ext cx="40683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Зачем нужны консервы?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0"/>
            <p:cNvSpPr txBox="1"/>
            <p:nvPr/>
          </p:nvSpPr>
          <p:spPr>
            <a:xfrm>
              <a:off x="846239" y="4162610"/>
              <a:ext cx="37460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 что обращают внимание?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0"/>
            <p:cNvSpPr txBox="1"/>
            <p:nvPr/>
          </p:nvSpPr>
          <p:spPr>
            <a:xfrm>
              <a:off x="846239" y="4531942"/>
              <a:ext cx="3882686" cy="6992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Соответствие ГОСТу, дата изготовления, свежесть, состав, </a:t>
              </a: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красивая, завлекательная банка.</a:t>
              </a:r>
              <a:endParaRPr/>
            </a:p>
          </p:txBody>
        </p:sp>
        <p:sp>
          <p:nvSpPr>
            <p:cNvPr id="185" name="Google Shape;185;p50"/>
            <p:cNvSpPr/>
            <p:nvPr/>
          </p:nvSpPr>
          <p:spPr>
            <a:xfrm>
              <a:off x="5829717" y="4491984"/>
              <a:ext cx="5348288" cy="1207854"/>
            </a:xfrm>
            <a:prstGeom prst="rect">
              <a:avLst/>
            </a:prstGeom>
            <a:solidFill>
              <a:srgbClr val="D0D0D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50"/>
            <p:cNvSpPr txBox="1"/>
            <p:nvPr/>
          </p:nvSpPr>
          <p:spPr>
            <a:xfrm>
              <a:off x="5837495" y="4531942"/>
              <a:ext cx="35092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ru-RU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Проблемы при покупке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50"/>
            <p:cNvSpPr txBox="1"/>
            <p:nvPr/>
          </p:nvSpPr>
          <p:spPr>
            <a:xfrm>
              <a:off x="5896790" y="4836939"/>
              <a:ext cx="4668281" cy="802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Суженный выбор: только ГОСТ, только «правильные» регионы и производители — много вариантов сразу отсеиваются. Новый бренд оказался невкусным — навсегда вычёркивает производителя.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0"/>
            <p:cNvSpPr txBox="1"/>
            <p:nvPr/>
          </p:nvSpPr>
          <p:spPr>
            <a:xfrm>
              <a:off x="5975977" y="2230194"/>
              <a:ext cx="4045601" cy="1735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Рыбные консервы для них — совместное удовольствие: как только им с мужем захотелось рыбы. Это не ингредиент для сложных блюд, а готовая закуска к любимой картошечке. Очень внимательна к ГОСТу и производителю, а неудачным брендам не даёт второго шанса. Предпочитает рыбу: сайра, тунец, скумбрия, бычки, иваси.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0"/>
            <p:cNvSpPr txBox="1"/>
            <p:nvPr/>
          </p:nvSpPr>
          <p:spPr>
            <a:xfrm>
              <a:off x="922965" y="2162562"/>
              <a:ext cx="3250179" cy="492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71 год, пенсионерка/домохозяйка, замужем, взрослая дочь.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50"/>
            <p:cNvSpPr txBox="1"/>
            <p:nvPr/>
          </p:nvSpPr>
          <p:spPr>
            <a:xfrm>
              <a:off x="838198" y="3124010"/>
              <a:ext cx="4068358" cy="492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ru-RU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Консервы ест исключительно как готовое блюдо к гарниру (картошкой).</a:t>
              </a:r>
              <a:endParaRPr/>
            </a:p>
          </p:txBody>
        </p:sp>
      </p:grpSp>
      <p:sp>
        <p:nvSpPr>
          <p:cNvPr id="191" name="Google Shape;191;p50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1"/>
          <p:cNvSpPr txBox="1"/>
          <p:nvPr>
            <p:ph type="title"/>
          </p:nvPr>
        </p:nvSpPr>
        <p:spPr>
          <a:xfrm>
            <a:off x="384069" y="-1258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CJM</a:t>
            </a:r>
            <a:endParaRPr/>
          </a:p>
        </p:txBody>
      </p:sp>
      <p:graphicFrame>
        <p:nvGraphicFramePr>
          <p:cNvPr id="197" name="Google Shape;197;p51"/>
          <p:cNvGraphicFramePr/>
          <p:nvPr/>
        </p:nvGraphicFramePr>
        <p:xfrm>
          <a:off x="0" y="7991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{2F8292B4-72F3-43D1-940F-A844C9C45D98}</a:tableStyleId>
              </a:tblPr>
              <a:tblGrid>
                <a:gridCol w="2032000"/>
                <a:gridCol w="2032000"/>
                <a:gridCol w="2032000"/>
                <a:gridCol w="2032000"/>
                <a:gridCol w="2032000"/>
                <a:gridCol w="2032000"/>
              </a:tblGrid>
              <a:tr h="88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Принятие решения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Выбор магазина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Поиск нужных консервов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Покупка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Лояльность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Какую проблему решает?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Хочется «рыбки с картошкой»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Найти, где есть правильные Тихоокеанская и ГОСТ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Выбрать конкретный вид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solidFill>
                            <a:schemeClr val="dk1"/>
                          </a:solidFill>
                        </a:rPr>
                        <a:t>Выбрать правильную банку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Повторить удачный опыт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Мотив к действию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Удовольствие, привычка, вкус из детства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Привычные точки: «Наш», рынки, ярмарки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Читаемая дата, понятный производитель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Взять вкусную и свежую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Запоминание вкусного бренда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Что может быть барьером?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Нет времени идти на рынок; дома нет картошки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 магазинах нет нужного 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Мелкий шрифт даты, непонятный изготовитель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Очередь/наличие наличных, сомнение в продукте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Один провал — отказ навсегда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ru-RU" sz="1800" u="none" cap="none" strike="noStrike">
                          <a:solidFill>
                            <a:schemeClr val="dk1"/>
                          </a:solidFill>
                        </a:rPr>
                        <a:t>ЭМОЦИИ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Ностальгия, предвкушение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Сомнение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Внимательность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Осторожность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Радость/разочарование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51"/>
          <p:cNvSpPr txBox="1"/>
          <p:nvPr/>
        </p:nvSpPr>
        <p:spPr>
          <a:xfrm>
            <a:off x="312683" y="-82030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>
            <p:ph type="title"/>
          </p:nvPr>
        </p:nvSpPr>
        <p:spPr>
          <a:xfrm>
            <a:off x="537491" y="7306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Выводы</a:t>
            </a:r>
            <a:endParaRPr/>
          </a:p>
        </p:txBody>
      </p:sp>
      <p:sp>
        <p:nvSpPr>
          <p:cNvPr id="204" name="Google Shape;204;p22"/>
          <p:cNvSpPr txBox="1"/>
          <p:nvPr>
            <p:ph idx="1" type="body"/>
          </p:nvPr>
        </p:nvSpPr>
        <p:spPr>
          <a:xfrm>
            <a:off x="398600" y="1310123"/>
            <a:ext cx="11341315" cy="483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Покупают по желанию, без запасов; из трёх только один берёт регулярно (≈ раз в 2 недели).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Выбор делают по видимым признакам качества: целая банка, крупная дата, плотная набивка, цельные тушки.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Происхождение и стандарт решают: повышают доверие; ТУ/непонятный регион — отказ.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Цена — сигнал: слишком дёшево — подозрительно; готовы переплатить за вкус/ГОСТ, но есть сегмент, берущий только бюджетное.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Лояльность: первая неудачная банка — бренд навсегда в чёрном списке; удачная — повторные покупки.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Упаковка важна кольцо-открывашка и «красивая банка» повышают шанс покупки; вмятины/пробои — стоп-фактор.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ru-RU" sz="2000"/>
              <a:t>Покупают  в близких, привычных местах: магазины поблизости (Магнит, Светофор), рынки/ярмарки.</a:t>
            </a:r>
            <a:endParaRPr sz="2000"/>
          </a:p>
        </p:txBody>
      </p:sp>
      <p:sp>
        <p:nvSpPr>
          <p:cNvPr id="205" name="Google Shape;205;p22"/>
          <p:cNvSpPr txBox="1"/>
          <p:nvPr/>
        </p:nvSpPr>
        <p:spPr>
          <a:xfrm>
            <a:off x="398600" y="73067"/>
            <a:ext cx="1179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-RU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ВВЕДЕНИЕ В ТЕХНОЛОГИЧЕСКОЕ ПРЕДПРИНИМАТЕЛЬСТВО</a:t>
            </a:r>
            <a:endParaRPr b="0" i="0" sz="15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2025-07-07T13:10:43Z</dcterms:created>
  <dc:creator>Бойцова Юлия Сергеевна</dc:creator>
</cp:coreProperties>
</file>