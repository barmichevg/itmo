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62" r:id="rId5"/>
    <p:sldId id="260" r:id="rId6"/>
    <p:sldId id="263" r:id="rId7"/>
    <p:sldId id="265" r:id="rId8"/>
    <p:sldId id="266" r:id="rId9"/>
    <p:sldId id="267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3886" autoAdjust="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585614-3B92-47D3-9F9B-63367B61BAAD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B3A982-C261-4905-8350-0DF76DEB6C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683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B3A982-C261-4905-8350-0DF76DEB6CF8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299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B3A982-C261-4905-8350-0DF76DEB6CF8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216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DE9923-F4D9-C776-62F6-7B51F7C80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BA798B-C180-C323-2E3F-43F3C1892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3963DC-7E4D-E3E2-6AF2-E165E98B5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8516-A248-448A-A1C3-78CC9A3F0D28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6E2278-6D00-485D-54A8-410C0CE30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CD09CD-D59B-375A-4E51-CC1D5EBEC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6ECD-287B-4DE7-848F-9B9692B972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9197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5DB63D-9B20-3CC8-32F3-8293D6C5D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A80560-17FF-E461-7D11-7BF510537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589634-0D12-2EAB-44E3-562BF85C6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8516-A248-448A-A1C3-78CC9A3F0D28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2754E7-15AC-9E11-CE39-F4C34B219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D46409-C309-8911-62D7-909E5DE0A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6ECD-287B-4DE7-848F-9B9692B972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3475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B350B-32FD-991E-EA54-5C69DF4BD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52ECDF-8924-19AC-2710-7C6BE056A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24256-6D44-43FD-0AFA-DF41CE829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8516-A248-448A-A1C3-78CC9A3F0D28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2B15E0-6C47-756A-F4DE-81B4852BB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52D158-A6C9-A4CC-983C-EF0CCC500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6ECD-287B-4DE7-848F-9B9692B972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7747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D1175A-F6C3-D876-4709-AF1623A9D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E15B35-D550-C9F1-9054-E6D27169B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38D263B-5B3A-D70E-E57E-639CB429E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1DB94B-0C13-AED8-AF02-A20B0C6D0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8516-A248-448A-A1C3-78CC9A3F0D28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A2FB41-74E5-828F-2237-C95822C9B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52B58B-1E3B-4072-F937-BC1116B39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6ECD-287B-4DE7-848F-9B9692B972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62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234013-191B-78D3-0C1C-83265826B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205B06-FF9F-1119-EC05-D58D6459C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FC179DF-CE55-ACC4-560E-8E07ECFC0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F0BEEDC-EAAE-D3E3-E536-74CB287B1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51089C5-9104-FA6C-F435-50C8BA465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BE1DC7-75DA-B59E-1F79-35BA85DFA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8516-A248-448A-A1C3-78CC9A3F0D28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3B55634-272D-6891-CCEE-07975CD69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55066C5-4BE1-1139-3E03-581F4E8F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6ECD-287B-4DE7-848F-9B9692B972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317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E13EA-67E7-447B-2A24-2E30940BE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5C2F9D9-7908-9340-DFDF-6C1301E32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8516-A248-448A-A1C3-78CC9A3F0D28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F3D6C55-DD1E-741F-EB2C-D78DA7EF9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CDDD09-93B0-3A3E-4534-40623418A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6ECD-287B-4DE7-848F-9B9692B972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25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CD51B3C-5DEE-B09D-93C1-81C9C12F4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8516-A248-448A-A1C3-78CC9A3F0D28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11AC591-2A83-26E9-ECAF-96B1727D3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23352A-868E-174B-653E-CDC62A637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6ECD-287B-4DE7-848F-9B9692B972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115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354D47-1D8E-7E2D-2700-2B9FB7B3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D5DA3E-F0BB-8803-6B8C-6490BFFBF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EC3EEA-76AD-DAD4-3559-C651D61A6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CA35D3-2319-4111-A69B-1D424C40F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8516-A248-448A-A1C3-78CC9A3F0D28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51703B-184D-9A59-3246-838652C3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E6150E-E2C2-A807-0451-F8A77BCF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6ECD-287B-4DE7-848F-9B9692B972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10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24D28-FD90-0061-CBE5-60CB6DF44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E2A959D-67D0-7416-6328-44922D9126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FA6360-60BE-5171-71CA-F48BD4D04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FC13CA-3DE2-9DC9-803B-ED5885FE6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8516-A248-448A-A1C3-78CC9A3F0D28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EE0285-86F4-4B05-4289-828C93735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24EE0B-C8AA-DA53-3C32-91BE4952B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6ECD-287B-4DE7-848F-9B9692B972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7107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5F9226-207B-AD2F-4466-032DC4FD2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105472E-63D3-7C55-1918-F6576E2B9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50C619-CE61-C04F-E205-B08CFDF7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8516-A248-448A-A1C3-78CC9A3F0D28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AE792E-27B9-E897-923E-27A90B56D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2FD673-256F-BD0F-CC5C-CBDF0B053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6ECD-287B-4DE7-848F-9B9692B972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661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7EA1584-1152-7433-0CBA-9170AE1DD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F1DC66-DB81-A9FC-CAA7-7ADE5AA1B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B64EE4-7A2C-F50C-471E-F5EF0BF69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8516-A248-448A-A1C3-78CC9A3F0D28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BCC88A-1ADA-12B0-C937-91F04DABC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BB671E-03A7-716B-2AC0-7012FC5B3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6ECD-287B-4DE7-848F-9B9692B972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130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99AFA-0E00-69A7-09AD-388D50BF3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9374F0-F06B-A609-2735-5BF0956C2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AA80E2-3F53-C95A-0FC0-DC07877F8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38516-A248-448A-A1C3-78CC9A3F0D28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594C8B-2FFF-BD3D-B56E-EE1F215D5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84026F-D952-3386-4679-923B319B79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466ECD-287B-4DE7-848F-9B9692B972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726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35A696-CF85-E92D-A553-CF457498F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3350" y="1186440"/>
            <a:ext cx="9144000" cy="2387600"/>
          </a:xfrm>
        </p:spPr>
        <p:txBody>
          <a:bodyPr>
            <a:noAutofit/>
          </a:bodyPr>
          <a:lstStyle/>
          <a:p>
            <a:pPr indent="240030">
              <a:lnSpc>
                <a:spcPct val="150000"/>
              </a:lnSpc>
              <a:spcAft>
                <a:spcPts val="1000"/>
              </a:spcAft>
              <a:tabLst>
                <a:tab pos="4410710" algn="l"/>
                <a:tab pos="4495800" algn="l"/>
                <a:tab pos="4945380" algn="l"/>
                <a:tab pos="5394960" algn="l"/>
                <a:tab pos="5844540" algn="l"/>
              </a:tabLst>
            </a:pPr>
            <a:br>
              <a:rPr lang="ru-RU" sz="24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Исследовательская работа</a:t>
            </a:r>
            <a:br>
              <a:rPr lang="ru-RU" sz="24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Отчет по финальной работе</a:t>
            </a:r>
            <a:b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4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Выбранная тема:</a:t>
            </a:r>
            <a:b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Петергоф: послевоенное возрождение</a:t>
            </a:r>
            <a:endParaRPr lang="ru-RU" sz="2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2D33F8-B51C-4101-D97E-8A11ED1DC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7750" y="5546148"/>
            <a:ext cx="9144000" cy="665162"/>
          </a:xfrm>
        </p:spPr>
        <p:txBody>
          <a:bodyPr/>
          <a:lstStyle/>
          <a:p>
            <a:pPr algn="r"/>
            <a:r>
              <a:rPr lang="ru-RU" dirty="0"/>
              <a:t>Выполнил: Бармичев Григорий Андреевич 465142</a:t>
            </a:r>
          </a:p>
        </p:txBody>
      </p:sp>
    </p:spTree>
    <p:extLst>
      <p:ext uri="{BB962C8B-B14F-4D97-AF65-F5344CB8AC3E}">
        <p14:creationId xmlns:p14="http://schemas.microsoft.com/office/powerpoint/2010/main" val="1811103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3851C7-0BD7-60E2-3CC9-F880B1E4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/>
              <a:t>Актуальность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5D9293-9EAD-312B-A1B6-5FB62798E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377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Один из величайших памятников русской архитектуры и садово-паркового искусства. Во время Великой Отечественной войны он был практически уничтожен. Его восстановление стало символом не только культурного, но и духовного возрождения страны. </a:t>
            </a:r>
          </a:p>
          <a:p>
            <a:pPr marL="0" indent="0">
              <a:buNone/>
            </a:pP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Сегодня, когда исторические памятники часто подвергаются угрозе уничтожения, опыт восстановления Петергофа приобретает особую ценность и может служить методологической и нравственной основой для аналогичных инициатив.</a:t>
            </a:r>
          </a:p>
          <a:p>
            <a:pPr marL="0" indent="0"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834208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CD4BDB-F777-6190-CC9C-243E9917B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Цели</a:t>
            </a:r>
            <a:r>
              <a:rPr lang="ru-RU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2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исследования: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D15CBA-5109-3A9E-CB4E-0F90A610F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280650" cy="4505326"/>
          </a:xfrm>
        </p:spPr>
        <p:txBody>
          <a:bodyPr>
            <a:noAutofit/>
          </a:bodyPr>
          <a:lstStyle/>
          <a:p>
            <a:r>
              <a:rPr lang="ru-RU" sz="1800" dirty="0">
                <a:solidFill>
                  <a:srgbClr val="000000"/>
                </a:solidFill>
                <a:latin typeface="Aptos Display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Исследовать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Aptos Display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процесса эвакуации и спасения музейных ценностей Петергофа в предвоенные и военные годы.</a:t>
            </a:r>
            <a:endParaRPr lang="en-US" sz="1800" dirty="0"/>
          </a:p>
          <a:p>
            <a:r>
              <a:rPr lang="ru-RU" sz="1800" kern="1200" dirty="0">
                <a:solidFill>
                  <a:srgbClr val="000000"/>
                </a:solidFill>
                <a:effectLst/>
                <a:latin typeface="Aptos Display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Проанализировать масштабов потерь Петергофа в годы Великой Отечественной войны и их влияния на культурное наследие.</a:t>
            </a:r>
            <a:endParaRPr lang="en-US" sz="1200" dirty="0"/>
          </a:p>
          <a:p>
            <a:r>
              <a:rPr lang="ru-RU" sz="1800" kern="1200" dirty="0">
                <a:solidFill>
                  <a:srgbClr val="000000"/>
                </a:solidFill>
                <a:effectLst/>
                <a:latin typeface="Aptos Display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Изучить процессов и методов восстановления Петергофа в послевоенный период, а также изучить особенности восстановления отдельных объектов (Большого дворца, фонтанов Нижнего парка и др.).</a:t>
            </a:r>
            <a:endParaRPr lang="en-US" sz="1200" dirty="0"/>
          </a:p>
          <a:p>
            <a:r>
              <a:rPr lang="ru-RU" sz="1800" kern="1200" dirty="0">
                <a:solidFill>
                  <a:srgbClr val="000000"/>
                </a:solidFill>
                <a:effectLst/>
                <a:latin typeface="Aptos Display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Сравнить довоенное состояние комплекса с восстановленным ансамблем в контексте изменения художественного образа.</a:t>
            </a:r>
            <a:endParaRPr lang="en-US" sz="1200" dirty="0"/>
          </a:p>
          <a:p>
            <a:r>
              <a:rPr lang="ru-RU" sz="1800" kern="1200" dirty="0">
                <a:solidFill>
                  <a:srgbClr val="000000"/>
                </a:solidFill>
                <a:effectLst/>
                <a:latin typeface="Aptos Display" panose="020B0004020202020204" pitchFamily="34" charset="0"/>
                <a:ea typeface="+mn-ea"/>
                <a:cs typeface="Times New Roman" panose="02020603050405020304" pitchFamily="18" charset="0"/>
              </a:rPr>
              <a:t>Изучить роль восстановления Петергофа для страны.</a:t>
            </a:r>
            <a:endParaRPr lang="ru-RU" sz="1200" dirty="0">
              <a:effectLst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SzPts val="1600"/>
            </a:pPr>
            <a:endParaRPr lang="ru-RU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69570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одежда, человек, Человеческое лицо, ваз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62B001A-43F2-533B-F5A4-A7137464A2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65" y="-384461"/>
            <a:ext cx="4169335" cy="4363029"/>
          </a:xfrm>
        </p:spPr>
      </p:pic>
      <p:pic>
        <p:nvPicPr>
          <p:cNvPr id="7" name="Рисунок 6" descr="Изображение выглядит как одежда, человек, похороны, черно-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F9B2EB8-3C63-F27E-5D40-CE3118450D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65" y="3975947"/>
            <a:ext cx="4169336" cy="2882053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F32F08E0-8777-B11E-9672-6D525ED90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14" y="451184"/>
            <a:ext cx="5262386" cy="609266"/>
          </a:xfrm>
        </p:spPr>
        <p:txBody>
          <a:bodyPr anchor="t">
            <a:normAutofit/>
          </a:bodyPr>
          <a:lstStyle/>
          <a:p>
            <a:r>
              <a:rPr lang="ru-RU" sz="3200" dirty="0"/>
              <a:t>Эвакуация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E519E-33EF-B0BB-99AE-56FA049F5B31}"/>
              </a:ext>
            </a:extLst>
          </p:cNvPr>
          <p:cNvSpPr txBox="1"/>
          <p:nvPr/>
        </p:nvSpPr>
        <p:spPr>
          <a:xfrm>
            <a:off x="660400" y="1257300"/>
            <a:ext cx="67183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Ещё в </a:t>
            </a:r>
            <a:r>
              <a:rPr lang="ru-RU" sz="1800" dirty="0">
                <a:effectLst/>
                <a:latin typeface="+mj-lt"/>
                <a:ea typeface="Calibri" panose="020F0502020204030204" pitchFamily="34" charset="0"/>
              </a:rPr>
              <a:t>1936 году был разработан «план разгрузки» – фактически план эвакуации, замаскированный под инвентаризацию.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Эвакуация началась 22 июня 1941 года, сразу после начала войны.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Своевременная эвакуация затруднялась мобилизацией персонала, а также острая нехватка железнодорожного транспорта т. к. большая его часть была задействована в военных целях.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Всего из </a:t>
            </a:r>
            <a:r>
              <a:rPr lang="ru-RU" sz="1800" dirty="0">
                <a:effectLst/>
                <a:latin typeface="+mj-lt"/>
                <a:ea typeface="Calibri" panose="020F0502020204030204" pitchFamily="34" charset="0"/>
              </a:rPr>
              <a:t>Петергофа было вывезено 12 932 предмета, включая около 8632 собственно музейных экспонатов, а также 1800 книг и 1500 фотографий и негативов.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  <a:ea typeface="Calibri" panose="020F0502020204030204" pitchFamily="34" charset="0"/>
              </a:rPr>
              <a:t>Все что неудалось эвакуировать пытались прятать, предметы запечатывали в подвалах, скульптуры закапывались в землю.</a:t>
            </a:r>
            <a:endParaRPr lang="ru-RU" sz="1800" dirty="0">
              <a:effectLst/>
              <a:latin typeface="+mj-lt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Последние сотрудники покинули </a:t>
            </a:r>
            <a:r>
              <a:rPr lang="ru-RU" sz="1800" dirty="0">
                <a:effectLst/>
                <a:latin typeface="+mj-lt"/>
                <a:ea typeface="Calibri" panose="020F0502020204030204" pitchFamily="34" charset="0"/>
              </a:rPr>
              <a:t>дворцы и парк</a:t>
            </a:r>
            <a:r>
              <a:rPr lang="ru-RU" dirty="0">
                <a:latin typeface="+mj-lt"/>
              </a:rPr>
              <a:t> только 22 сентября 1941 года за пару часов до полного захвата Петергофа.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4010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на открытом воздухе, строительство, небо, руины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3A234BC-D21B-5808-E7D6-977AB6BED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5"/>
          <a:stretch>
            <a:fillRect/>
          </a:stretch>
        </p:blipFill>
        <p:spPr>
          <a:xfrm>
            <a:off x="6922362" y="0"/>
            <a:ext cx="5262386" cy="3429000"/>
          </a:xfrm>
          <a:prstGeom prst="rect">
            <a:avLst/>
          </a:prstGeom>
        </p:spPr>
      </p:pic>
      <p:pic>
        <p:nvPicPr>
          <p:cNvPr id="7" name="Объект 4" descr="Изображение выглядит как на открытом воздухе, небо, строительство, черно-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0AFB4E6-217A-1960-3D29-50569E240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7041"/>
          <a:stretch>
            <a:fillRect/>
          </a:stretch>
        </p:blipFill>
        <p:spPr>
          <a:xfrm>
            <a:off x="6922361" y="3428999"/>
            <a:ext cx="5269639" cy="3429000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FD266420-6623-4781-2E25-D21A6005E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171" y="863934"/>
            <a:ext cx="5262386" cy="1415270"/>
          </a:xfrm>
        </p:spPr>
        <p:txBody>
          <a:bodyPr anchor="t">
            <a:normAutofit/>
          </a:bodyPr>
          <a:lstStyle/>
          <a:p>
            <a:r>
              <a:rPr lang="ru-RU" sz="3200" dirty="0"/>
              <a:t>Масштабы утрат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FB602AC-52BC-3756-621E-76D13D402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1784350"/>
            <a:ext cx="5892799" cy="4597400"/>
          </a:xfrm>
        </p:spPr>
        <p:txBody>
          <a:bodyPr>
            <a:normAutofit/>
          </a:bodyPr>
          <a:lstStyle/>
          <a:p>
            <a:r>
              <a:rPr lang="ru-RU" sz="1800" dirty="0"/>
              <a:t>Оккупация Петергофа помимо ущерба от военных действий сопровождалась мародерством.</a:t>
            </a:r>
          </a:p>
          <a:p>
            <a:r>
              <a:rPr lang="ru-RU" sz="1800" dirty="0"/>
              <a:t>Многие вещи, которые представляли ценность как сырье, демонтировались.</a:t>
            </a:r>
          </a:p>
          <a:p>
            <a:r>
              <a:rPr lang="ru-RU" sz="1800" dirty="0"/>
              <a:t>Из оставленных 34214 экспонатов большая часть была безвозвратно утрачены.</a:t>
            </a:r>
          </a:p>
          <a:p>
            <a:r>
              <a:rPr lang="ru-RU" sz="1800" dirty="0"/>
              <a:t>При отступлении немцами использовалась тактика выжженной земли, территория парка оказалось заминирована.</a:t>
            </a:r>
          </a:p>
          <a:p>
            <a:r>
              <a:rPr lang="ru-RU" sz="1800" dirty="0"/>
              <a:t>Особо сильно пострадал Большой дворец, центральная часть дворца и Верхний грот были взорваны.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43906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30F67E-772F-2C95-7FD1-045DA0560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534" y="64666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Организация</a:t>
            </a: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восстановительных</a:t>
            </a: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работ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Рисунок 10" descr="Изображение выглядит как на открытом воздухе, одежда, человек, люд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789BC26-26EB-DA7A-C6E3-6C7DBAE52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r="-2" b="-2"/>
          <a:stretch>
            <a:fillRect/>
          </a:stretch>
        </p:blipFill>
        <p:spPr>
          <a:xfrm>
            <a:off x="3049" y="2773486"/>
            <a:ext cx="6092951" cy="4084514"/>
          </a:xfrm>
          <a:prstGeom prst="rect">
            <a:avLst/>
          </a:prstGeom>
        </p:spPr>
      </p:pic>
      <p:pic>
        <p:nvPicPr>
          <p:cNvPr id="15" name="Объект 14" descr="Изображение выглядит как на открытом воздухе, строительство, одежда, улиц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8400D37-2E11-6C6A-AB93-8B0C4EEE85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3" r="-2" b="-2"/>
          <a:stretch>
            <a:fillRect/>
          </a:stretch>
        </p:blipFill>
        <p:spPr>
          <a:xfrm>
            <a:off x="6092700" y="2777161"/>
            <a:ext cx="6096942" cy="408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76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59E41-A918-BA64-DA85-8921E099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250" y="746125"/>
            <a:ext cx="6978227" cy="1325563"/>
          </a:xfrm>
        </p:spPr>
        <p:txBody>
          <a:bodyPr>
            <a:normAutofit/>
          </a:bodyPr>
          <a:lstStyle/>
          <a:p>
            <a:r>
              <a:rPr lang="ru-RU" sz="3200" dirty="0"/>
              <a:t>Основные этапы восстановительных работ</a:t>
            </a:r>
          </a:p>
        </p:txBody>
      </p:sp>
      <p:pic>
        <p:nvPicPr>
          <p:cNvPr id="9" name="Объект 8" descr="Изображение выглядит как на открытом воздухе, черно-белый, небо, строитель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65E9130-90BB-8A12-D8FB-25069D3B73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194" y="365125"/>
            <a:ext cx="4284806" cy="3213604"/>
          </a:xfrm>
        </p:spPr>
      </p:pic>
      <p:pic>
        <p:nvPicPr>
          <p:cNvPr id="11" name="Рисунок 10" descr="Изображение выглядит как на открытом воздухе, строительство, небо, облак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5F01A6C-20E9-BE9D-7BF7-FD3FCD067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194" y="3634943"/>
            <a:ext cx="4284806" cy="28579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6D195E5-C955-8A99-E5A0-B7D87D04AD15}"/>
              </a:ext>
            </a:extLst>
          </p:cNvPr>
          <p:cNvSpPr txBox="1"/>
          <p:nvPr/>
        </p:nvSpPr>
        <p:spPr>
          <a:xfrm>
            <a:off x="660400" y="2551837"/>
            <a:ext cx="64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Разминирование территории (зима–весна 1944 г.)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Укрепление конструкций (1944–1948 гг.)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Очистка и запуск фонтанов (1944–1950 гг.)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Реставрация павильонов и малых дворцов (1944–1958 гг.)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Реконструкция Большого дворца (1949–1964 гг.)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Озеленение и благоустройство парков (1945–1960-е гг.)</a:t>
            </a:r>
          </a:p>
        </p:txBody>
      </p:sp>
    </p:spTree>
    <p:extLst>
      <p:ext uri="{BB962C8B-B14F-4D97-AF65-F5344CB8AC3E}">
        <p14:creationId xmlns:p14="http://schemas.microsoft.com/office/powerpoint/2010/main" val="549868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C44317-3CAA-6E4C-2E51-48D9DA11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50" y="460375"/>
            <a:ext cx="5697918" cy="1325563"/>
          </a:xfrm>
        </p:spPr>
        <p:txBody>
          <a:bodyPr>
            <a:normAutofit/>
          </a:bodyPr>
          <a:lstStyle/>
          <a:p>
            <a:r>
              <a:rPr lang="ru-RU" sz="3200" dirty="0"/>
              <a:t>Реставрация Большого дворца</a:t>
            </a:r>
          </a:p>
        </p:txBody>
      </p:sp>
      <p:pic>
        <p:nvPicPr>
          <p:cNvPr id="5" name="Объект 4" descr="Изображение выглядит как строительство, на открытом воздухе, черно-белый, руины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63A3B47-2D79-E735-7E2E-347772D2F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46600" cy="3427120"/>
          </a:xfrm>
        </p:spPr>
      </p:pic>
      <p:pic>
        <p:nvPicPr>
          <p:cNvPr id="7" name="Рисунок 6" descr="Изображение выглядит как в помещении, пол, стена, дизайн интерьер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8CFB462-86F9-AC88-62E7-197B520EAC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61"/>
          <a:stretch/>
        </p:blipFill>
        <p:spPr>
          <a:xfrm>
            <a:off x="1" y="3429001"/>
            <a:ext cx="4546600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7DFBB7-D873-A280-A690-D01E94E0B5AE}"/>
              </a:ext>
            </a:extLst>
          </p:cNvPr>
          <p:cNvSpPr txBox="1"/>
          <p:nvPr/>
        </p:nvSpPr>
        <p:spPr>
          <a:xfrm>
            <a:off x="4984750" y="1866900"/>
            <a:ext cx="63900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ea typeface="Calibri" panose="020F0502020204030204" pitchFamily="34" charset="0"/>
              </a:rPr>
              <a:t>Велись с</a:t>
            </a:r>
            <a:r>
              <a:rPr lang="ru-RU" sz="1800" dirty="0">
                <a:effectLst/>
                <a:ea typeface="Calibri" panose="020F0502020204030204" pitchFamily="34" charset="0"/>
              </a:rPr>
              <a:t>поры о судьбе дворца в том числе рассматривался вариант приспособления дворца под дом отдыха.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Инженеры смогли воспроизвести форму кровли по следам штукатурки на трубах.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ea typeface="Calibri" panose="020F0502020204030204" pitchFamily="34" charset="0"/>
              </a:rPr>
              <a:t>Б</a:t>
            </a:r>
            <a:r>
              <a:rPr lang="ru-RU" sz="1800" dirty="0">
                <a:effectLst/>
                <a:ea typeface="Calibri" panose="020F0502020204030204" pitchFamily="34" charset="0"/>
              </a:rPr>
              <a:t>ыл сделан уменьшенный макет сложной кровли дворца, который использовался прямо на стройплощадке как эталон для воссоздания силуэта крыши.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Самым сложным оказалось воссоздание интерьера дворца. Первые залы открылись для посещения только </a:t>
            </a:r>
            <a:r>
              <a:rPr lang="ru-RU" sz="1800" dirty="0">
                <a:effectLst/>
                <a:ea typeface="Calibri" panose="020F0502020204030204" pitchFamily="34" charset="0"/>
              </a:rPr>
              <a:t>в мае 1964.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ea typeface="Calibri" panose="020F0502020204030204" pitchFamily="34" charset="0"/>
              </a:rPr>
              <a:t>У многих залов не оказалось источников для воссоздания точного исторического вида, в этом случае интерьеры создавались с нуля на основе их аналогов.</a:t>
            </a:r>
          </a:p>
        </p:txBody>
      </p:sp>
    </p:spTree>
    <p:extLst>
      <p:ext uri="{BB962C8B-B14F-4D97-AF65-F5344CB8AC3E}">
        <p14:creationId xmlns:p14="http://schemas.microsoft.com/office/powerpoint/2010/main" val="672997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248DD-F84D-2B06-EA41-FDF8722E9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753" y="119388"/>
            <a:ext cx="4057139" cy="1899912"/>
          </a:xfrm>
        </p:spPr>
        <p:txBody>
          <a:bodyPr>
            <a:normAutofit/>
          </a:bodyPr>
          <a:lstStyle/>
          <a:p>
            <a:r>
              <a:rPr lang="ru-RU" sz="3200" dirty="0"/>
              <a:t>Петергоф как символ возрождения страны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BCAC9A-5946-B238-ED4F-48FE7253B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351" y="2019300"/>
            <a:ext cx="4481945" cy="40399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/>
              <a:t>История послевоенного возрождения Петергофа — это пример того, как даже полностью разрушенное культурное наследие может быть возвращено к жизни благодаря усилиям людей. Благодаря эвакуации, самоотверженной работе реставраторов и участию всей страны, ансамбль был воссоздан заново. </a:t>
            </a:r>
          </a:p>
          <a:p>
            <a:pPr marL="0" indent="0">
              <a:buNone/>
            </a:pPr>
            <a:r>
              <a:rPr lang="ru-RU" sz="1800" dirty="0"/>
              <a:t>Петергоф стал не только восстановленным памятником архитектуры, но и символом Победы, национального духа и силы культуры. Его пример актуален и сегодня — как вдохновляющая модель сохранения исторической памяти и культурной преемственности.</a:t>
            </a:r>
          </a:p>
        </p:txBody>
      </p:sp>
      <p:pic>
        <p:nvPicPr>
          <p:cNvPr id="9" name="Рисунок 8" descr="Изображение выглядит как на открытом воздухе, строительство, стадион, черно-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5C3E517-B50D-C410-0534-0CABEF22B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0" r="6532"/>
          <a:stretch/>
        </p:blipFill>
        <p:spPr>
          <a:xfrm>
            <a:off x="5146090" y="-10"/>
            <a:ext cx="72182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544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282985-0C05-0041-2E53-A58C8DAAD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9711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8927623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575</Words>
  <Application>Microsoft Office PowerPoint</Application>
  <PresentationFormat>Широкоэкранный</PresentationFormat>
  <Paragraphs>44</Paragraphs>
  <Slides>10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Тема Office</vt:lpstr>
      <vt:lpstr> Исследовательская работа Отчет по финальной работе Выбранная тема: Петергоф: послевоенное возрождение</vt:lpstr>
      <vt:lpstr>Актуальность</vt:lpstr>
      <vt:lpstr>Цели исследования:</vt:lpstr>
      <vt:lpstr>Эвакуация</vt:lpstr>
      <vt:lpstr>Масштабы утрат</vt:lpstr>
      <vt:lpstr>Организация восстановительных работ</vt:lpstr>
      <vt:lpstr>Основные этапы восстановительных работ</vt:lpstr>
      <vt:lpstr>Реставрация Большого дворца</vt:lpstr>
      <vt:lpstr>Петергоф как символ возрождения страны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Бармичев Григорий Андреевич</dc:creator>
  <cp:lastModifiedBy>Бармичев Григорий Андреевич</cp:lastModifiedBy>
  <cp:revision>66</cp:revision>
  <dcterms:created xsi:type="dcterms:W3CDTF">2025-05-27T14:48:04Z</dcterms:created>
  <dcterms:modified xsi:type="dcterms:W3CDTF">2025-05-29T08:07:17Z</dcterms:modified>
</cp:coreProperties>
</file>